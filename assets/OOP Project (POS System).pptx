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49443C1E-80EA-4766-A70E-B3DF06E55833}">
          <p14:sldIdLst>
            <p14:sldId id="256"/>
          </p14:sldIdLst>
        </p14:section>
        <p14:section name="Explanation" id="{18E79AD6-6A8C-473B-9FFA-5FAF766B5BC9}">
          <p14:sldIdLst>
            <p14:sldId id="257"/>
            <p14:sldId id="258"/>
            <p14:sldId id="259"/>
            <p14:sldId id="260"/>
            <p14:sldId id="261"/>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10F53-5566-012F-E4A3-A103D5DBE16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B448FF2-005E-5C19-42A5-54BC65415A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0BE294B-ECF4-8AF0-4612-42D60CBC0272}"/>
              </a:ext>
            </a:extLst>
          </p:cNvPr>
          <p:cNvSpPr>
            <a:spLocks noGrp="1"/>
          </p:cNvSpPr>
          <p:nvPr>
            <p:ph type="dt" sz="half" idx="10"/>
          </p:nvPr>
        </p:nvSpPr>
        <p:spPr/>
        <p:txBody>
          <a:bodyPr/>
          <a:lstStyle/>
          <a:p>
            <a:fld id="{18521589-3A66-4E95-9FE8-35061E93D135}" type="datetimeFigureOut">
              <a:rPr lang="en-US" smtClean="0"/>
              <a:t>4/21/2026</a:t>
            </a:fld>
            <a:endParaRPr lang="en-US"/>
          </a:p>
        </p:txBody>
      </p:sp>
      <p:sp>
        <p:nvSpPr>
          <p:cNvPr id="5" name="Footer Placeholder 4">
            <a:extLst>
              <a:ext uri="{FF2B5EF4-FFF2-40B4-BE49-F238E27FC236}">
                <a16:creationId xmlns:a16="http://schemas.microsoft.com/office/drawing/2014/main" id="{79EC5C44-A69E-F811-DFE5-E46E246D9C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BBC62D-FF39-A96D-4184-3B1E7DCD71AF}"/>
              </a:ext>
            </a:extLst>
          </p:cNvPr>
          <p:cNvSpPr>
            <a:spLocks noGrp="1"/>
          </p:cNvSpPr>
          <p:nvPr>
            <p:ph type="sldNum" sz="quarter" idx="12"/>
          </p:nvPr>
        </p:nvSpPr>
        <p:spPr/>
        <p:txBody>
          <a:bodyPr/>
          <a:lstStyle/>
          <a:p>
            <a:fld id="{566B8034-0F90-46C3-BF78-48E5D790CE3B}" type="slidenum">
              <a:rPr lang="en-US" smtClean="0"/>
              <a:t>‹#›</a:t>
            </a:fld>
            <a:endParaRPr lang="en-US"/>
          </a:p>
        </p:txBody>
      </p:sp>
    </p:spTree>
    <p:extLst>
      <p:ext uri="{BB962C8B-B14F-4D97-AF65-F5344CB8AC3E}">
        <p14:creationId xmlns:p14="http://schemas.microsoft.com/office/powerpoint/2010/main" val="24489512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DFEF7-3F60-70E2-A19C-5008F97F54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BCE178-5BFC-1362-7A98-344E354C2C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C9E2A1-4EC4-D08B-FC5C-B5AC4C83599C}"/>
              </a:ext>
            </a:extLst>
          </p:cNvPr>
          <p:cNvSpPr>
            <a:spLocks noGrp="1"/>
          </p:cNvSpPr>
          <p:nvPr>
            <p:ph type="dt" sz="half" idx="10"/>
          </p:nvPr>
        </p:nvSpPr>
        <p:spPr/>
        <p:txBody>
          <a:bodyPr/>
          <a:lstStyle/>
          <a:p>
            <a:fld id="{18521589-3A66-4E95-9FE8-35061E93D135}" type="datetimeFigureOut">
              <a:rPr lang="en-US" smtClean="0"/>
              <a:t>4/21/2026</a:t>
            </a:fld>
            <a:endParaRPr lang="en-US"/>
          </a:p>
        </p:txBody>
      </p:sp>
      <p:sp>
        <p:nvSpPr>
          <p:cNvPr id="5" name="Footer Placeholder 4">
            <a:extLst>
              <a:ext uri="{FF2B5EF4-FFF2-40B4-BE49-F238E27FC236}">
                <a16:creationId xmlns:a16="http://schemas.microsoft.com/office/drawing/2014/main" id="{28DAC4B5-0DFD-9986-1EF8-8CE7803FD3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AD80ED-B73E-4667-352B-C56BB3CC1F47}"/>
              </a:ext>
            </a:extLst>
          </p:cNvPr>
          <p:cNvSpPr>
            <a:spLocks noGrp="1"/>
          </p:cNvSpPr>
          <p:nvPr>
            <p:ph type="sldNum" sz="quarter" idx="12"/>
          </p:nvPr>
        </p:nvSpPr>
        <p:spPr/>
        <p:txBody>
          <a:bodyPr/>
          <a:lstStyle/>
          <a:p>
            <a:fld id="{566B8034-0F90-46C3-BF78-48E5D790CE3B}" type="slidenum">
              <a:rPr lang="en-US" smtClean="0"/>
              <a:t>‹#›</a:t>
            </a:fld>
            <a:endParaRPr lang="en-US"/>
          </a:p>
        </p:txBody>
      </p:sp>
    </p:spTree>
    <p:extLst>
      <p:ext uri="{BB962C8B-B14F-4D97-AF65-F5344CB8AC3E}">
        <p14:creationId xmlns:p14="http://schemas.microsoft.com/office/powerpoint/2010/main" val="32660005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6FB5C-BB5B-0340-DDC3-3003A3B5444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3FECBA9-4EA3-2791-8B4C-E425D95D8F3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634607D-8046-1443-B10F-48F5A88BB97A}"/>
              </a:ext>
            </a:extLst>
          </p:cNvPr>
          <p:cNvSpPr>
            <a:spLocks noGrp="1"/>
          </p:cNvSpPr>
          <p:nvPr>
            <p:ph type="dt" sz="half" idx="10"/>
          </p:nvPr>
        </p:nvSpPr>
        <p:spPr/>
        <p:txBody>
          <a:bodyPr/>
          <a:lstStyle/>
          <a:p>
            <a:fld id="{18521589-3A66-4E95-9FE8-35061E93D135}" type="datetimeFigureOut">
              <a:rPr lang="en-US" smtClean="0"/>
              <a:t>4/21/2026</a:t>
            </a:fld>
            <a:endParaRPr lang="en-US"/>
          </a:p>
        </p:txBody>
      </p:sp>
      <p:sp>
        <p:nvSpPr>
          <p:cNvPr id="5" name="Footer Placeholder 4">
            <a:extLst>
              <a:ext uri="{FF2B5EF4-FFF2-40B4-BE49-F238E27FC236}">
                <a16:creationId xmlns:a16="http://schemas.microsoft.com/office/drawing/2014/main" id="{61FB70D3-D4A5-C98A-C194-3C28D79AAB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2FE492-14AE-175F-EE72-200BDE27D8A3}"/>
              </a:ext>
            </a:extLst>
          </p:cNvPr>
          <p:cNvSpPr>
            <a:spLocks noGrp="1"/>
          </p:cNvSpPr>
          <p:nvPr>
            <p:ph type="sldNum" sz="quarter" idx="12"/>
          </p:nvPr>
        </p:nvSpPr>
        <p:spPr/>
        <p:txBody>
          <a:bodyPr/>
          <a:lstStyle/>
          <a:p>
            <a:fld id="{566B8034-0F90-46C3-BF78-48E5D790CE3B}" type="slidenum">
              <a:rPr lang="en-US" smtClean="0"/>
              <a:t>‹#›</a:t>
            </a:fld>
            <a:endParaRPr lang="en-US"/>
          </a:p>
        </p:txBody>
      </p:sp>
    </p:spTree>
    <p:extLst>
      <p:ext uri="{BB962C8B-B14F-4D97-AF65-F5344CB8AC3E}">
        <p14:creationId xmlns:p14="http://schemas.microsoft.com/office/powerpoint/2010/main" val="8357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C64D7-3954-D92C-2F8C-8DF533563D1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3BE67DD-51BA-F745-0DB6-4CF509E2C4D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E473D10-CC02-7124-96EE-9BBE93AD1D5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FD1BB7E-16F1-CA69-031D-2F93E4C45619}"/>
              </a:ext>
            </a:extLst>
          </p:cNvPr>
          <p:cNvSpPr>
            <a:spLocks noGrp="1"/>
          </p:cNvSpPr>
          <p:nvPr>
            <p:ph type="dt" sz="half" idx="10"/>
          </p:nvPr>
        </p:nvSpPr>
        <p:spPr/>
        <p:txBody>
          <a:bodyPr/>
          <a:lstStyle/>
          <a:p>
            <a:fld id="{18521589-3A66-4E95-9FE8-35061E93D135}" type="datetimeFigureOut">
              <a:rPr lang="en-US" smtClean="0"/>
              <a:t>4/21/2026</a:t>
            </a:fld>
            <a:endParaRPr lang="en-US"/>
          </a:p>
        </p:txBody>
      </p:sp>
      <p:sp>
        <p:nvSpPr>
          <p:cNvPr id="6" name="Footer Placeholder 5">
            <a:extLst>
              <a:ext uri="{FF2B5EF4-FFF2-40B4-BE49-F238E27FC236}">
                <a16:creationId xmlns:a16="http://schemas.microsoft.com/office/drawing/2014/main" id="{45B31CFC-CFFC-AB52-1DC8-A8F2A37B75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026327-47F7-DF89-077E-B8224989A006}"/>
              </a:ext>
            </a:extLst>
          </p:cNvPr>
          <p:cNvSpPr>
            <a:spLocks noGrp="1"/>
          </p:cNvSpPr>
          <p:nvPr>
            <p:ph type="sldNum" sz="quarter" idx="12"/>
          </p:nvPr>
        </p:nvSpPr>
        <p:spPr/>
        <p:txBody>
          <a:bodyPr/>
          <a:lstStyle/>
          <a:p>
            <a:fld id="{566B8034-0F90-46C3-BF78-48E5D790CE3B}" type="slidenum">
              <a:rPr lang="en-US" smtClean="0"/>
              <a:t>‹#›</a:t>
            </a:fld>
            <a:endParaRPr lang="en-US"/>
          </a:p>
        </p:txBody>
      </p:sp>
    </p:spTree>
    <p:extLst>
      <p:ext uri="{BB962C8B-B14F-4D97-AF65-F5344CB8AC3E}">
        <p14:creationId xmlns:p14="http://schemas.microsoft.com/office/powerpoint/2010/main" val="3576396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C787F-3311-F0DA-C46B-D34CD014446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BB83D1A-AA9A-97EA-EEA4-91F16A7903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63332CD-0AF0-5AC3-DEF9-04B5399C149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07D49D-CA7A-D965-5E43-6E60692B7C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5972DF-F4EE-A2C1-65D9-1A64EC22F20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563DE68-9699-7ED9-E914-2DADE37736B3}"/>
              </a:ext>
            </a:extLst>
          </p:cNvPr>
          <p:cNvSpPr>
            <a:spLocks noGrp="1"/>
          </p:cNvSpPr>
          <p:nvPr>
            <p:ph type="dt" sz="half" idx="10"/>
          </p:nvPr>
        </p:nvSpPr>
        <p:spPr/>
        <p:txBody>
          <a:bodyPr/>
          <a:lstStyle/>
          <a:p>
            <a:fld id="{18521589-3A66-4E95-9FE8-35061E93D135}" type="datetimeFigureOut">
              <a:rPr lang="en-US" smtClean="0"/>
              <a:t>4/21/2026</a:t>
            </a:fld>
            <a:endParaRPr lang="en-US"/>
          </a:p>
        </p:txBody>
      </p:sp>
      <p:sp>
        <p:nvSpPr>
          <p:cNvPr id="8" name="Footer Placeholder 7">
            <a:extLst>
              <a:ext uri="{FF2B5EF4-FFF2-40B4-BE49-F238E27FC236}">
                <a16:creationId xmlns:a16="http://schemas.microsoft.com/office/drawing/2014/main" id="{4F8BB318-E7E8-23B3-E028-51C73BABA48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D248928-361D-DA86-E656-AEFB1772AA8B}"/>
              </a:ext>
            </a:extLst>
          </p:cNvPr>
          <p:cNvSpPr>
            <a:spLocks noGrp="1"/>
          </p:cNvSpPr>
          <p:nvPr>
            <p:ph type="sldNum" sz="quarter" idx="12"/>
          </p:nvPr>
        </p:nvSpPr>
        <p:spPr/>
        <p:txBody>
          <a:bodyPr/>
          <a:lstStyle/>
          <a:p>
            <a:fld id="{566B8034-0F90-46C3-BF78-48E5D790CE3B}" type="slidenum">
              <a:rPr lang="en-US" smtClean="0"/>
              <a:t>‹#›</a:t>
            </a:fld>
            <a:endParaRPr lang="en-US"/>
          </a:p>
        </p:txBody>
      </p:sp>
    </p:spTree>
    <p:extLst>
      <p:ext uri="{BB962C8B-B14F-4D97-AF65-F5344CB8AC3E}">
        <p14:creationId xmlns:p14="http://schemas.microsoft.com/office/powerpoint/2010/main" val="389418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4DD4A-E3B6-7008-F66C-6CBD4232650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BD82971-C46D-4B7D-AF84-EE0741FC2E22}"/>
              </a:ext>
            </a:extLst>
          </p:cNvPr>
          <p:cNvSpPr>
            <a:spLocks noGrp="1"/>
          </p:cNvSpPr>
          <p:nvPr>
            <p:ph type="dt" sz="half" idx="10"/>
          </p:nvPr>
        </p:nvSpPr>
        <p:spPr/>
        <p:txBody>
          <a:bodyPr/>
          <a:lstStyle/>
          <a:p>
            <a:fld id="{18521589-3A66-4E95-9FE8-35061E93D135}" type="datetimeFigureOut">
              <a:rPr lang="en-US" smtClean="0"/>
              <a:t>4/21/2026</a:t>
            </a:fld>
            <a:endParaRPr lang="en-US"/>
          </a:p>
        </p:txBody>
      </p:sp>
      <p:sp>
        <p:nvSpPr>
          <p:cNvPr id="4" name="Footer Placeholder 3">
            <a:extLst>
              <a:ext uri="{FF2B5EF4-FFF2-40B4-BE49-F238E27FC236}">
                <a16:creationId xmlns:a16="http://schemas.microsoft.com/office/drawing/2014/main" id="{DC883EBA-49CD-86B9-FEEE-EE8DEE95DC8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4E16FA4-BCD0-C2A9-B757-24539FD4BA00}"/>
              </a:ext>
            </a:extLst>
          </p:cNvPr>
          <p:cNvSpPr>
            <a:spLocks noGrp="1"/>
          </p:cNvSpPr>
          <p:nvPr>
            <p:ph type="sldNum" sz="quarter" idx="12"/>
          </p:nvPr>
        </p:nvSpPr>
        <p:spPr/>
        <p:txBody>
          <a:bodyPr/>
          <a:lstStyle/>
          <a:p>
            <a:fld id="{566B8034-0F90-46C3-BF78-48E5D790CE3B}" type="slidenum">
              <a:rPr lang="en-US" smtClean="0"/>
              <a:t>‹#›</a:t>
            </a:fld>
            <a:endParaRPr lang="en-US"/>
          </a:p>
        </p:txBody>
      </p:sp>
    </p:spTree>
    <p:extLst>
      <p:ext uri="{BB962C8B-B14F-4D97-AF65-F5344CB8AC3E}">
        <p14:creationId xmlns:p14="http://schemas.microsoft.com/office/powerpoint/2010/main" val="17925454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DB41A7-D071-4435-28B6-DC236A4C6A50}"/>
              </a:ext>
            </a:extLst>
          </p:cNvPr>
          <p:cNvSpPr>
            <a:spLocks noGrp="1"/>
          </p:cNvSpPr>
          <p:nvPr>
            <p:ph type="dt" sz="half" idx="10"/>
          </p:nvPr>
        </p:nvSpPr>
        <p:spPr/>
        <p:txBody>
          <a:bodyPr/>
          <a:lstStyle/>
          <a:p>
            <a:fld id="{18521589-3A66-4E95-9FE8-35061E93D135}" type="datetimeFigureOut">
              <a:rPr lang="en-US" smtClean="0"/>
              <a:t>4/21/2026</a:t>
            </a:fld>
            <a:endParaRPr lang="en-US"/>
          </a:p>
        </p:txBody>
      </p:sp>
      <p:sp>
        <p:nvSpPr>
          <p:cNvPr id="3" name="Footer Placeholder 2">
            <a:extLst>
              <a:ext uri="{FF2B5EF4-FFF2-40B4-BE49-F238E27FC236}">
                <a16:creationId xmlns:a16="http://schemas.microsoft.com/office/drawing/2014/main" id="{523A5B71-E88C-5E47-91B1-2B21D970A94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49544E0-AC68-5F5F-23F9-3D95E408ABC6}"/>
              </a:ext>
            </a:extLst>
          </p:cNvPr>
          <p:cNvSpPr>
            <a:spLocks noGrp="1"/>
          </p:cNvSpPr>
          <p:nvPr>
            <p:ph type="sldNum" sz="quarter" idx="12"/>
          </p:nvPr>
        </p:nvSpPr>
        <p:spPr/>
        <p:txBody>
          <a:bodyPr/>
          <a:lstStyle/>
          <a:p>
            <a:fld id="{566B8034-0F90-46C3-BF78-48E5D790CE3B}" type="slidenum">
              <a:rPr lang="en-US" smtClean="0"/>
              <a:t>‹#›</a:t>
            </a:fld>
            <a:endParaRPr lang="en-US"/>
          </a:p>
        </p:txBody>
      </p:sp>
    </p:spTree>
    <p:extLst>
      <p:ext uri="{BB962C8B-B14F-4D97-AF65-F5344CB8AC3E}">
        <p14:creationId xmlns:p14="http://schemas.microsoft.com/office/powerpoint/2010/main" val="7556954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74470-877C-4384-A33D-E051617285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B9D7937-045A-1C32-A9F0-6BA494736A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A4413F0-9CFE-7305-E70F-D0C194B5A8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D63052-FC15-763B-33EE-3E467683A8EE}"/>
              </a:ext>
            </a:extLst>
          </p:cNvPr>
          <p:cNvSpPr>
            <a:spLocks noGrp="1"/>
          </p:cNvSpPr>
          <p:nvPr>
            <p:ph type="dt" sz="half" idx="10"/>
          </p:nvPr>
        </p:nvSpPr>
        <p:spPr/>
        <p:txBody>
          <a:bodyPr/>
          <a:lstStyle/>
          <a:p>
            <a:fld id="{18521589-3A66-4E95-9FE8-35061E93D135}" type="datetimeFigureOut">
              <a:rPr lang="en-US" smtClean="0"/>
              <a:t>4/21/2026</a:t>
            </a:fld>
            <a:endParaRPr lang="en-US"/>
          </a:p>
        </p:txBody>
      </p:sp>
      <p:sp>
        <p:nvSpPr>
          <p:cNvPr id="6" name="Footer Placeholder 5">
            <a:extLst>
              <a:ext uri="{FF2B5EF4-FFF2-40B4-BE49-F238E27FC236}">
                <a16:creationId xmlns:a16="http://schemas.microsoft.com/office/drawing/2014/main" id="{00F442C5-C186-4185-C92C-47B5894274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0D9295-BF27-9941-76B3-1E91E27A3BB1}"/>
              </a:ext>
            </a:extLst>
          </p:cNvPr>
          <p:cNvSpPr>
            <a:spLocks noGrp="1"/>
          </p:cNvSpPr>
          <p:nvPr>
            <p:ph type="sldNum" sz="quarter" idx="12"/>
          </p:nvPr>
        </p:nvSpPr>
        <p:spPr/>
        <p:txBody>
          <a:bodyPr/>
          <a:lstStyle/>
          <a:p>
            <a:fld id="{566B8034-0F90-46C3-BF78-48E5D790CE3B}" type="slidenum">
              <a:rPr lang="en-US" smtClean="0"/>
              <a:t>‹#›</a:t>
            </a:fld>
            <a:endParaRPr lang="en-US"/>
          </a:p>
        </p:txBody>
      </p:sp>
    </p:spTree>
    <p:extLst>
      <p:ext uri="{BB962C8B-B14F-4D97-AF65-F5344CB8AC3E}">
        <p14:creationId xmlns:p14="http://schemas.microsoft.com/office/powerpoint/2010/main" val="3755863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88456-6BAC-0CC8-C6BB-90D5EC26AE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DEA42D1-FB31-C12C-6D18-70C535CB29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0A0C3C2-2978-97AE-09B6-700476C761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DA115C-D737-F061-BF23-3AD8D6E64DF5}"/>
              </a:ext>
            </a:extLst>
          </p:cNvPr>
          <p:cNvSpPr>
            <a:spLocks noGrp="1"/>
          </p:cNvSpPr>
          <p:nvPr>
            <p:ph type="dt" sz="half" idx="10"/>
          </p:nvPr>
        </p:nvSpPr>
        <p:spPr/>
        <p:txBody>
          <a:bodyPr/>
          <a:lstStyle/>
          <a:p>
            <a:fld id="{18521589-3A66-4E95-9FE8-35061E93D135}" type="datetimeFigureOut">
              <a:rPr lang="en-US" smtClean="0"/>
              <a:t>4/21/2026</a:t>
            </a:fld>
            <a:endParaRPr lang="en-US"/>
          </a:p>
        </p:txBody>
      </p:sp>
      <p:sp>
        <p:nvSpPr>
          <p:cNvPr id="6" name="Footer Placeholder 5">
            <a:extLst>
              <a:ext uri="{FF2B5EF4-FFF2-40B4-BE49-F238E27FC236}">
                <a16:creationId xmlns:a16="http://schemas.microsoft.com/office/drawing/2014/main" id="{ACEB57CE-F6F1-44B2-A2AE-601CDACECC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83023B-1C7E-D9F8-9EE6-1D6225CB7CF6}"/>
              </a:ext>
            </a:extLst>
          </p:cNvPr>
          <p:cNvSpPr>
            <a:spLocks noGrp="1"/>
          </p:cNvSpPr>
          <p:nvPr>
            <p:ph type="sldNum" sz="quarter" idx="12"/>
          </p:nvPr>
        </p:nvSpPr>
        <p:spPr/>
        <p:txBody>
          <a:bodyPr/>
          <a:lstStyle/>
          <a:p>
            <a:fld id="{566B8034-0F90-46C3-BF78-48E5D790CE3B}" type="slidenum">
              <a:rPr lang="en-US" smtClean="0"/>
              <a:t>‹#›</a:t>
            </a:fld>
            <a:endParaRPr lang="en-US"/>
          </a:p>
        </p:txBody>
      </p:sp>
    </p:spTree>
    <p:extLst>
      <p:ext uri="{BB962C8B-B14F-4D97-AF65-F5344CB8AC3E}">
        <p14:creationId xmlns:p14="http://schemas.microsoft.com/office/powerpoint/2010/main" val="21947190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42675-F89F-9E41-FBD5-3AE06604EA3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EFF49EC-B85B-7A19-ED52-EB84184921E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63DC8E-04B8-DEB7-834D-2D37A8539538}"/>
              </a:ext>
            </a:extLst>
          </p:cNvPr>
          <p:cNvSpPr>
            <a:spLocks noGrp="1"/>
          </p:cNvSpPr>
          <p:nvPr>
            <p:ph type="dt" sz="half" idx="10"/>
          </p:nvPr>
        </p:nvSpPr>
        <p:spPr/>
        <p:txBody>
          <a:bodyPr/>
          <a:lstStyle/>
          <a:p>
            <a:fld id="{18521589-3A66-4E95-9FE8-35061E93D135}" type="datetimeFigureOut">
              <a:rPr lang="en-US" smtClean="0"/>
              <a:t>4/21/2026</a:t>
            </a:fld>
            <a:endParaRPr lang="en-US"/>
          </a:p>
        </p:txBody>
      </p:sp>
      <p:sp>
        <p:nvSpPr>
          <p:cNvPr id="5" name="Footer Placeholder 4">
            <a:extLst>
              <a:ext uri="{FF2B5EF4-FFF2-40B4-BE49-F238E27FC236}">
                <a16:creationId xmlns:a16="http://schemas.microsoft.com/office/drawing/2014/main" id="{CCF5E900-FCDD-DDBF-3BD4-F7B7D61143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C907B5-4891-1398-45B5-B5E1A1E178BD}"/>
              </a:ext>
            </a:extLst>
          </p:cNvPr>
          <p:cNvSpPr>
            <a:spLocks noGrp="1"/>
          </p:cNvSpPr>
          <p:nvPr>
            <p:ph type="sldNum" sz="quarter" idx="12"/>
          </p:nvPr>
        </p:nvSpPr>
        <p:spPr/>
        <p:txBody>
          <a:bodyPr/>
          <a:lstStyle/>
          <a:p>
            <a:fld id="{566B8034-0F90-46C3-BF78-48E5D790CE3B}" type="slidenum">
              <a:rPr lang="en-US" smtClean="0"/>
              <a:t>‹#›</a:t>
            </a:fld>
            <a:endParaRPr lang="en-US"/>
          </a:p>
        </p:txBody>
      </p:sp>
    </p:spTree>
    <p:extLst>
      <p:ext uri="{BB962C8B-B14F-4D97-AF65-F5344CB8AC3E}">
        <p14:creationId xmlns:p14="http://schemas.microsoft.com/office/powerpoint/2010/main" val="18418665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7BF4ECE-A81B-D095-BD9C-C735BF4CBA2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9930D73-7F55-4492-F81C-4CCFF0775CD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0C78E8-B30B-6A55-81B1-BD2C53C8FD5C}"/>
              </a:ext>
            </a:extLst>
          </p:cNvPr>
          <p:cNvSpPr>
            <a:spLocks noGrp="1"/>
          </p:cNvSpPr>
          <p:nvPr>
            <p:ph type="dt" sz="half" idx="10"/>
          </p:nvPr>
        </p:nvSpPr>
        <p:spPr/>
        <p:txBody>
          <a:bodyPr/>
          <a:lstStyle/>
          <a:p>
            <a:fld id="{18521589-3A66-4E95-9FE8-35061E93D135}" type="datetimeFigureOut">
              <a:rPr lang="en-US" smtClean="0"/>
              <a:t>4/21/2026</a:t>
            </a:fld>
            <a:endParaRPr lang="en-US"/>
          </a:p>
        </p:txBody>
      </p:sp>
      <p:sp>
        <p:nvSpPr>
          <p:cNvPr id="5" name="Footer Placeholder 4">
            <a:extLst>
              <a:ext uri="{FF2B5EF4-FFF2-40B4-BE49-F238E27FC236}">
                <a16:creationId xmlns:a16="http://schemas.microsoft.com/office/drawing/2014/main" id="{5BA91999-8CA0-A7B2-C440-E0A84A6DBD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FAED99-D09E-4B14-645A-77683638B797}"/>
              </a:ext>
            </a:extLst>
          </p:cNvPr>
          <p:cNvSpPr>
            <a:spLocks noGrp="1"/>
          </p:cNvSpPr>
          <p:nvPr>
            <p:ph type="sldNum" sz="quarter" idx="12"/>
          </p:nvPr>
        </p:nvSpPr>
        <p:spPr/>
        <p:txBody>
          <a:bodyPr/>
          <a:lstStyle/>
          <a:p>
            <a:fld id="{566B8034-0F90-46C3-BF78-48E5D790CE3B}" type="slidenum">
              <a:rPr lang="en-US" smtClean="0"/>
              <a:t>‹#›</a:t>
            </a:fld>
            <a:endParaRPr lang="en-US"/>
          </a:p>
        </p:txBody>
      </p:sp>
    </p:spTree>
    <p:extLst>
      <p:ext uri="{BB962C8B-B14F-4D97-AF65-F5344CB8AC3E}">
        <p14:creationId xmlns:p14="http://schemas.microsoft.com/office/powerpoint/2010/main" val="9772364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D749D2-A0D4-8A76-2E3E-FA8A472A7F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35907B1-E7E1-565E-B1C1-03D6FFFD48E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762903-6C90-9616-F144-63C19118171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8521589-3A66-4E95-9FE8-35061E93D135}" type="datetimeFigureOut">
              <a:rPr lang="en-US" smtClean="0"/>
              <a:t>4/21/2026</a:t>
            </a:fld>
            <a:endParaRPr lang="en-US"/>
          </a:p>
        </p:txBody>
      </p:sp>
      <p:sp>
        <p:nvSpPr>
          <p:cNvPr id="5" name="Footer Placeholder 4">
            <a:extLst>
              <a:ext uri="{FF2B5EF4-FFF2-40B4-BE49-F238E27FC236}">
                <a16:creationId xmlns:a16="http://schemas.microsoft.com/office/drawing/2014/main" id="{8A9980B0-763D-6DD9-6344-52CF80D0A9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DFB5DAF-EB73-B1B0-30D1-9D823698E5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66B8034-0F90-46C3-BF78-48E5D790CE3B}" type="slidenum">
              <a:rPr lang="en-US" smtClean="0"/>
              <a:t>‹#›</a:t>
            </a:fld>
            <a:endParaRPr lang="en-US"/>
          </a:p>
        </p:txBody>
      </p:sp>
    </p:spTree>
    <p:extLst>
      <p:ext uri="{BB962C8B-B14F-4D97-AF65-F5344CB8AC3E}">
        <p14:creationId xmlns:p14="http://schemas.microsoft.com/office/powerpoint/2010/main" val="7434898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813B487-0CA9-27AB-C566-0AFD771636A0}"/>
              </a:ext>
            </a:extLst>
          </p:cNvPr>
          <p:cNvSpPr>
            <a:spLocks noGrp="1"/>
          </p:cNvSpPr>
          <p:nvPr>
            <p:ph type="ctrTitle"/>
          </p:nvPr>
        </p:nvSpPr>
        <p:spPr>
          <a:xfrm>
            <a:off x="1524000" y="1024127"/>
            <a:ext cx="9144000" cy="1114235"/>
          </a:xfrm>
        </p:spPr>
        <p:txBody>
          <a:bodyPr/>
          <a:lstStyle/>
          <a:p>
            <a:pPr algn="l"/>
            <a:r>
              <a:rPr lang="en-US" dirty="0"/>
              <a:t>OOP Project (POS System)</a:t>
            </a:r>
          </a:p>
        </p:txBody>
      </p:sp>
      <p:sp>
        <p:nvSpPr>
          <p:cNvPr id="6" name="TextBox 5">
            <a:extLst>
              <a:ext uri="{FF2B5EF4-FFF2-40B4-BE49-F238E27FC236}">
                <a16:creationId xmlns:a16="http://schemas.microsoft.com/office/drawing/2014/main" id="{76E51F21-5FF9-5D3A-01F8-5C2AE981BFE3}"/>
              </a:ext>
            </a:extLst>
          </p:cNvPr>
          <p:cNvSpPr txBox="1"/>
          <p:nvPr/>
        </p:nvSpPr>
        <p:spPr>
          <a:xfrm>
            <a:off x="1524000" y="4079547"/>
            <a:ext cx="3642344" cy="1754326"/>
          </a:xfrm>
          <a:prstGeom prst="rect">
            <a:avLst/>
          </a:prstGeom>
          <a:noFill/>
        </p:spPr>
        <p:txBody>
          <a:bodyPr wrap="none" rtlCol="0">
            <a:spAutoFit/>
          </a:bodyPr>
          <a:lstStyle/>
          <a:p>
            <a:r>
              <a:rPr lang="en-US" dirty="0"/>
              <a:t>Group Members: </a:t>
            </a:r>
          </a:p>
          <a:p>
            <a:pPr marL="285750" indent="-285750">
              <a:buFont typeface="Arial" panose="020B0604020202020204" pitchFamily="34" charset="0"/>
              <a:buChar char="•"/>
            </a:pPr>
            <a:r>
              <a:rPr lang="en-US" dirty="0"/>
              <a:t>Omar Al Reesi 24-0178</a:t>
            </a:r>
          </a:p>
          <a:p>
            <a:pPr marL="285750" indent="-285750">
              <a:buFont typeface="Arial" panose="020B0604020202020204" pitchFamily="34" charset="0"/>
              <a:buChar char="•"/>
            </a:pPr>
            <a:r>
              <a:rPr lang="en-US" dirty="0"/>
              <a:t>Faisal Al </a:t>
            </a:r>
            <a:r>
              <a:rPr lang="en-US" dirty="0" err="1"/>
              <a:t>Yahmadi</a:t>
            </a:r>
            <a:r>
              <a:rPr lang="en-US" dirty="0"/>
              <a:t> 24-0191</a:t>
            </a:r>
          </a:p>
          <a:p>
            <a:pPr marL="285750" indent="-285750">
              <a:buFont typeface="Arial" panose="020B0604020202020204" pitchFamily="34" charset="0"/>
              <a:buChar char="•"/>
            </a:pPr>
            <a:r>
              <a:rPr lang="en-US" dirty="0"/>
              <a:t>Qusai Al Salmi 25-0032</a:t>
            </a:r>
          </a:p>
          <a:p>
            <a:pPr marL="285750" indent="-285750">
              <a:buFont typeface="Arial" panose="020B0604020202020204" pitchFamily="34" charset="0"/>
              <a:buChar char="•"/>
            </a:pPr>
            <a:r>
              <a:rPr lang="en-US" dirty="0" err="1"/>
              <a:t>Almamoon</a:t>
            </a:r>
            <a:r>
              <a:rPr lang="en-US" dirty="0"/>
              <a:t> Al Saidi 24-0048</a:t>
            </a:r>
          </a:p>
          <a:p>
            <a:pPr marL="285750" indent="-285750">
              <a:buFont typeface="Arial" panose="020B0604020202020204" pitchFamily="34" charset="0"/>
              <a:buChar char="•"/>
            </a:pPr>
            <a:r>
              <a:rPr lang="en-US" dirty="0"/>
              <a:t>Mohammed Al </a:t>
            </a:r>
            <a:r>
              <a:rPr lang="en-US" dirty="0" err="1"/>
              <a:t>Mhanna</a:t>
            </a:r>
            <a:r>
              <a:rPr lang="en-US" dirty="0"/>
              <a:t> 25-0011</a:t>
            </a:r>
          </a:p>
        </p:txBody>
      </p:sp>
      <p:sp>
        <p:nvSpPr>
          <p:cNvPr id="7" name="TextBox 6">
            <a:extLst>
              <a:ext uri="{FF2B5EF4-FFF2-40B4-BE49-F238E27FC236}">
                <a16:creationId xmlns:a16="http://schemas.microsoft.com/office/drawing/2014/main" id="{CB11EE60-BE65-B590-3FA9-0CB414099C59}"/>
              </a:ext>
            </a:extLst>
          </p:cNvPr>
          <p:cNvSpPr txBox="1"/>
          <p:nvPr/>
        </p:nvSpPr>
        <p:spPr>
          <a:xfrm>
            <a:off x="1524000" y="2139458"/>
            <a:ext cx="7571303" cy="646331"/>
          </a:xfrm>
          <a:prstGeom prst="rect">
            <a:avLst/>
          </a:prstGeom>
          <a:noFill/>
        </p:spPr>
        <p:txBody>
          <a:bodyPr wrap="none" rtlCol="0">
            <a:spAutoFit/>
          </a:bodyPr>
          <a:lstStyle/>
          <a:p>
            <a:r>
              <a:rPr lang="en-US" dirty="0"/>
              <a:t>Point-Of-Sale system built using </a:t>
            </a:r>
            <a:r>
              <a:rPr lang="en-US" dirty="0" err="1"/>
              <a:t>c++</a:t>
            </a:r>
            <a:r>
              <a:rPr lang="en-US" dirty="0"/>
              <a:t> to automate grocery stores process of</a:t>
            </a:r>
          </a:p>
          <a:p>
            <a:r>
              <a:rPr lang="en-US" dirty="0"/>
              <a:t> inventory tracking and cashier checkout.</a:t>
            </a:r>
          </a:p>
        </p:txBody>
      </p:sp>
    </p:spTree>
    <p:extLst>
      <p:ext uri="{BB962C8B-B14F-4D97-AF65-F5344CB8AC3E}">
        <p14:creationId xmlns:p14="http://schemas.microsoft.com/office/powerpoint/2010/main" val="36534291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347DB-08BA-0BD9-DCBA-776EE4D54F42}"/>
              </a:ext>
            </a:extLst>
          </p:cNvPr>
          <p:cNvSpPr>
            <a:spLocks noGrp="1"/>
          </p:cNvSpPr>
          <p:nvPr>
            <p:ph type="title"/>
          </p:nvPr>
        </p:nvSpPr>
        <p:spPr/>
        <p:txBody>
          <a:bodyPr/>
          <a:lstStyle/>
          <a:p>
            <a:r>
              <a:rPr lang="en-US" dirty="0"/>
              <a:t>Purpose and features</a:t>
            </a:r>
          </a:p>
        </p:txBody>
      </p:sp>
      <p:sp>
        <p:nvSpPr>
          <p:cNvPr id="4" name="TextBox 3">
            <a:extLst>
              <a:ext uri="{FF2B5EF4-FFF2-40B4-BE49-F238E27FC236}">
                <a16:creationId xmlns:a16="http://schemas.microsoft.com/office/drawing/2014/main" id="{6935C443-DA49-40C1-FB59-5613F295937F}"/>
              </a:ext>
            </a:extLst>
          </p:cNvPr>
          <p:cNvSpPr txBox="1"/>
          <p:nvPr/>
        </p:nvSpPr>
        <p:spPr>
          <a:xfrm>
            <a:off x="838200" y="1367522"/>
            <a:ext cx="9421368" cy="4431983"/>
          </a:xfrm>
          <a:prstGeom prst="rect">
            <a:avLst/>
          </a:prstGeom>
          <a:noFill/>
        </p:spPr>
        <p:txBody>
          <a:bodyPr wrap="square" rtlCol="0">
            <a:spAutoFit/>
          </a:bodyPr>
          <a:lstStyle/>
          <a:p>
            <a:r>
              <a:rPr lang="en-US" dirty="0"/>
              <a:t>We have designed this system to make inventory tracking digitized for grocery stores instead of relying on paper to track inventory and transactions.</a:t>
            </a:r>
          </a:p>
          <a:p>
            <a:endParaRPr lang="en-US" sz="2400" dirty="0"/>
          </a:p>
          <a:p>
            <a:r>
              <a:rPr lang="en-US" sz="2400" b="1" dirty="0"/>
              <a:t>Main features:</a:t>
            </a:r>
          </a:p>
          <a:p>
            <a:pPr marL="285750" indent="-285750">
              <a:buFont typeface="Arial" panose="020B0604020202020204" pitchFamily="34" charset="0"/>
              <a:buChar char="•"/>
            </a:pPr>
            <a:r>
              <a:rPr lang="en-US" b="1" dirty="0"/>
              <a:t>POS system</a:t>
            </a:r>
          </a:p>
          <a:p>
            <a:pPr marL="742950" lvl="1" indent="-285750">
              <a:buFont typeface="Arial" panose="020B0604020202020204" pitchFamily="34" charset="0"/>
              <a:buChar char="•"/>
            </a:pPr>
            <a:r>
              <a:rPr lang="en-US" dirty="0"/>
              <a:t>Adding items to a cart</a:t>
            </a:r>
          </a:p>
          <a:p>
            <a:pPr marL="742950" lvl="1" indent="-285750">
              <a:buFont typeface="Arial" panose="020B0604020202020204" pitchFamily="34" charset="0"/>
              <a:buChar char="•"/>
            </a:pPr>
            <a:r>
              <a:rPr lang="en-US" dirty="0"/>
              <a:t>Auto calculating of total + vat</a:t>
            </a:r>
          </a:p>
          <a:p>
            <a:pPr marL="285750" indent="-285750">
              <a:buFont typeface="Arial" panose="020B0604020202020204" pitchFamily="34" charset="0"/>
              <a:buChar char="•"/>
            </a:pPr>
            <a:r>
              <a:rPr lang="en-US" b="1" dirty="0"/>
              <a:t>Inventory manager</a:t>
            </a:r>
          </a:p>
          <a:p>
            <a:pPr marL="742950" lvl="1" indent="-285750">
              <a:buFont typeface="Arial" panose="020B0604020202020204" pitchFamily="34" charset="0"/>
              <a:buChar char="•"/>
            </a:pPr>
            <a:r>
              <a:rPr lang="en-US" dirty="0"/>
              <a:t>List inventory </a:t>
            </a:r>
          </a:p>
          <a:p>
            <a:pPr marL="742950" lvl="1" indent="-285750">
              <a:buFont typeface="Arial" panose="020B0604020202020204" pitchFamily="34" charset="0"/>
              <a:buChar char="•"/>
            </a:pPr>
            <a:r>
              <a:rPr lang="en-US" dirty="0"/>
              <a:t>Add products</a:t>
            </a:r>
          </a:p>
          <a:p>
            <a:pPr marL="742950" lvl="1" indent="-285750">
              <a:buFont typeface="Arial" panose="020B0604020202020204" pitchFamily="34" charset="0"/>
              <a:buChar char="•"/>
            </a:pPr>
            <a:r>
              <a:rPr lang="en-US" dirty="0"/>
              <a:t>Update stock, or data related  to products</a:t>
            </a:r>
          </a:p>
          <a:p>
            <a:pPr marL="742950" lvl="1" indent="-285750">
              <a:buFont typeface="Arial" panose="020B0604020202020204" pitchFamily="34" charset="0"/>
              <a:buChar char="•"/>
            </a:pPr>
            <a:r>
              <a:rPr lang="en-US" dirty="0"/>
              <a:t>Delete products from the system</a:t>
            </a:r>
          </a:p>
          <a:p>
            <a:pPr marL="285750" indent="-285750">
              <a:buFont typeface="Arial" panose="020B0604020202020204" pitchFamily="34" charset="0"/>
              <a:buChar char="•"/>
            </a:pPr>
            <a:r>
              <a:rPr lang="en-US" b="1" dirty="0"/>
              <a:t>Storing data using custom database</a:t>
            </a:r>
          </a:p>
          <a:p>
            <a:pPr marL="742950" lvl="1" indent="-285750">
              <a:buFont typeface="Arial" panose="020B0604020202020204" pitchFamily="34" charset="0"/>
              <a:buChar char="•"/>
            </a:pPr>
            <a:r>
              <a:rPr lang="en-US" dirty="0"/>
              <a:t>CSV file based database built from scratch</a:t>
            </a:r>
          </a:p>
          <a:p>
            <a:pPr marL="742950" lvl="1" indent="-285750">
              <a:buFont typeface="Arial" panose="020B0604020202020204" pitchFamily="34" charset="0"/>
              <a:buChar char="•"/>
            </a:pPr>
            <a:r>
              <a:rPr lang="en-US" dirty="0"/>
              <a:t>Data can be viewed or edited using spreadsheets software like MS Excel</a:t>
            </a:r>
          </a:p>
        </p:txBody>
      </p:sp>
    </p:spTree>
    <p:extLst>
      <p:ext uri="{BB962C8B-B14F-4D97-AF65-F5344CB8AC3E}">
        <p14:creationId xmlns:p14="http://schemas.microsoft.com/office/powerpoint/2010/main" val="3284201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6B806-4160-54B4-16DA-7F6D16664A9E}"/>
              </a:ext>
            </a:extLst>
          </p:cNvPr>
          <p:cNvSpPr>
            <a:spLocks noGrp="1"/>
          </p:cNvSpPr>
          <p:nvPr>
            <p:ph type="title"/>
          </p:nvPr>
        </p:nvSpPr>
        <p:spPr/>
        <p:txBody>
          <a:bodyPr/>
          <a:lstStyle/>
          <a:p>
            <a:r>
              <a:rPr lang="en-US" dirty="0"/>
              <a:t>Classes and relationship</a:t>
            </a:r>
          </a:p>
        </p:txBody>
      </p:sp>
      <p:sp>
        <p:nvSpPr>
          <p:cNvPr id="4" name="TextBox 3">
            <a:extLst>
              <a:ext uri="{FF2B5EF4-FFF2-40B4-BE49-F238E27FC236}">
                <a16:creationId xmlns:a16="http://schemas.microsoft.com/office/drawing/2014/main" id="{07B7635C-91F4-ABA0-BAEB-4B8C9F9F51CF}"/>
              </a:ext>
            </a:extLst>
          </p:cNvPr>
          <p:cNvSpPr txBox="1"/>
          <p:nvPr/>
        </p:nvSpPr>
        <p:spPr>
          <a:xfrm>
            <a:off x="838200" y="1367522"/>
            <a:ext cx="9421368" cy="923330"/>
          </a:xfrm>
          <a:prstGeom prst="rect">
            <a:avLst/>
          </a:prstGeom>
          <a:noFill/>
        </p:spPr>
        <p:txBody>
          <a:bodyPr wrap="square" rtlCol="0">
            <a:spAutoFit/>
          </a:bodyPr>
          <a:lstStyle/>
          <a:p>
            <a:r>
              <a:rPr lang="en-US" dirty="0"/>
              <a:t>Note that the way for designing the software that we went for is to not repeat any code. Write helper methods/classes to make the software efficient for example all input/output are done through IO class which stands for </a:t>
            </a:r>
            <a:r>
              <a:rPr lang="en-US" dirty="0" err="1"/>
              <a:t>InputOutput</a:t>
            </a:r>
            <a:r>
              <a:rPr lang="en-US" dirty="0"/>
              <a:t>.</a:t>
            </a:r>
          </a:p>
        </p:txBody>
      </p:sp>
      <p:sp>
        <p:nvSpPr>
          <p:cNvPr id="5" name="TextBox 4">
            <a:extLst>
              <a:ext uri="{FF2B5EF4-FFF2-40B4-BE49-F238E27FC236}">
                <a16:creationId xmlns:a16="http://schemas.microsoft.com/office/drawing/2014/main" id="{463F2488-20FB-ED37-85CA-5667367A6917}"/>
              </a:ext>
            </a:extLst>
          </p:cNvPr>
          <p:cNvSpPr txBox="1"/>
          <p:nvPr/>
        </p:nvSpPr>
        <p:spPr>
          <a:xfrm>
            <a:off x="838200" y="2418189"/>
            <a:ext cx="9421368" cy="1015663"/>
          </a:xfrm>
          <a:prstGeom prst="rect">
            <a:avLst/>
          </a:prstGeom>
          <a:noFill/>
        </p:spPr>
        <p:txBody>
          <a:bodyPr wrap="square" rtlCol="0">
            <a:spAutoFit/>
          </a:bodyPr>
          <a:lstStyle/>
          <a:p>
            <a:r>
              <a:rPr lang="en-US" sz="2400" b="1" dirty="0"/>
              <a:t>Class IO:</a:t>
            </a:r>
          </a:p>
          <a:p>
            <a:r>
              <a:rPr lang="en-US" dirty="0"/>
              <a:t>This class consists of static methods to get input from user including error handling. And print output to the user using functions like print()</a:t>
            </a:r>
          </a:p>
        </p:txBody>
      </p:sp>
      <p:sp>
        <p:nvSpPr>
          <p:cNvPr id="6" name="TextBox 5">
            <a:extLst>
              <a:ext uri="{FF2B5EF4-FFF2-40B4-BE49-F238E27FC236}">
                <a16:creationId xmlns:a16="http://schemas.microsoft.com/office/drawing/2014/main" id="{D6F1121F-F520-9D30-0FF6-81AFCD3C70EC}"/>
              </a:ext>
            </a:extLst>
          </p:cNvPr>
          <p:cNvSpPr txBox="1"/>
          <p:nvPr/>
        </p:nvSpPr>
        <p:spPr>
          <a:xfrm>
            <a:off x="838200" y="3561189"/>
            <a:ext cx="9421368" cy="1569660"/>
          </a:xfrm>
          <a:prstGeom prst="rect">
            <a:avLst/>
          </a:prstGeom>
          <a:noFill/>
        </p:spPr>
        <p:txBody>
          <a:bodyPr wrap="square" rtlCol="0">
            <a:spAutoFit/>
          </a:bodyPr>
          <a:lstStyle/>
          <a:p>
            <a:r>
              <a:rPr lang="en-US" sz="2400" b="1" dirty="0"/>
              <a:t>Class Menu, Option:</a:t>
            </a:r>
          </a:p>
          <a:p>
            <a:r>
              <a:rPr lang="en-US" dirty="0"/>
              <a:t>These two classes are handling all menus in the program where there is a composition between class </a:t>
            </a:r>
            <a:r>
              <a:rPr lang="en-US" b="1" dirty="0"/>
              <a:t>Option</a:t>
            </a:r>
            <a:r>
              <a:rPr lang="en-US" dirty="0"/>
              <a:t> and class </a:t>
            </a:r>
            <a:r>
              <a:rPr lang="en-US" b="1" dirty="0"/>
              <a:t>Menu </a:t>
            </a:r>
            <a:r>
              <a:rPr lang="en-US" dirty="0"/>
              <a:t> as option is a part of Menu. This allows faster and more efficient creation of menus in the program with easier ability to</a:t>
            </a:r>
            <a:r>
              <a:rPr lang="en-US" b="1" dirty="0"/>
              <a:t> add features in the future</a:t>
            </a:r>
            <a:r>
              <a:rPr lang="en-US" dirty="0"/>
              <a:t>.</a:t>
            </a:r>
          </a:p>
        </p:txBody>
      </p:sp>
    </p:spTree>
    <p:extLst>
      <p:ext uri="{BB962C8B-B14F-4D97-AF65-F5344CB8AC3E}">
        <p14:creationId xmlns:p14="http://schemas.microsoft.com/office/powerpoint/2010/main" val="29564428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ED1F4-B165-14B5-8234-D290F206E3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576E1F-AE24-A3FC-338F-A7FE94D149D6}"/>
              </a:ext>
            </a:extLst>
          </p:cNvPr>
          <p:cNvSpPr>
            <a:spLocks noGrp="1"/>
          </p:cNvSpPr>
          <p:nvPr>
            <p:ph type="title"/>
          </p:nvPr>
        </p:nvSpPr>
        <p:spPr/>
        <p:txBody>
          <a:bodyPr/>
          <a:lstStyle/>
          <a:p>
            <a:r>
              <a:rPr lang="en-US" dirty="0"/>
              <a:t>Classes and relationship</a:t>
            </a:r>
          </a:p>
        </p:txBody>
      </p:sp>
      <p:sp>
        <p:nvSpPr>
          <p:cNvPr id="4" name="TextBox 3">
            <a:extLst>
              <a:ext uri="{FF2B5EF4-FFF2-40B4-BE49-F238E27FC236}">
                <a16:creationId xmlns:a16="http://schemas.microsoft.com/office/drawing/2014/main" id="{2AC4D54C-1C93-7E4A-B716-60AAD84B5871}"/>
              </a:ext>
            </a:extLst>
          </p:cNvPr>
          <p:cNvSpPr txBox="1"/>
          <p:nvPr/>
        </p:nvSpPr>
        <p:spPr>
          <a:xfrm>
            <a:off x="838200" y="1367522"/>
            <a:ext cx="9421368" cy="923330"/>
          </a:xfrm>
          <a:prstGeom prst="rect">
            <a:avLst/>
          </a:prstGeom>
          <a:noFill/>
        </p:spPr>
        <p:txBody>
          <a:bodyPr wrap="square" rtlCol="0">
            <a:spAutoFit/>
          </a:bodyPr>
          <a:lstStyle/>
          <a:p>
            <a:r>
              <a:rPr lang="en-US" dirty="0"/>
              <a:t>In this slide, I purposely have the database related classes in one slide to explain that in this way of designing the program we allow flexibility and reducing the chance of interaction between other parts of the program to reduce bugs.</a:t>
            </a:r>
          </a:p>
        </p:txBody>
      </p:sp>
      <p:sp>
        <p:nvSpPr>
          <p:cNvPr id="5" name="TextBox 4">
            <a:extLst>
              <a:ext uri="{FF2B5EF4-FFF2-40B4-BE49-F238E27FC236}">
                <a16:creationId xmlns:a16="http://schemas.microsoft.com/office/drawing/2014/main" id="{D6E88EFB-C6EF-20F7-D4AC-68C77B715DB5}"/>
              </a:ext>
            </a:extLst>
          </p:cNvPr>
          <p:cNvSpPr txBox="1"/>
          <p:nvPr/>
        </p:nvSpPr>
        <p:spPr>
          <a:xfrm>
            <a:off x="838200" y="2418189"/>
            <a:ext cx="9421368" cy="1292662"/>
          </a:xfrm>
          <a:prstGeom prst="rect">
            <a:avLst/>
          </a:prstGeom>
          <a:noFill/>
        </p:spPr>
        <p:txBody>
          <a:bodyPr wrap="square" rtlCol="0">
            <a:spAutoFit/>
          </a:bodyPr>
          <a:lstStyle/>
          <a:p>
            <a:r>
              <a:rPr lang="en-US" sz="2400" b="1" dirty="0"/>
              <a:t>Class Data, Database:</a:t>
            </a:r>
          </a:p>
          <a:p>
            <a:r>
              <a:rPr lang="en-US" dirty="0"/>
              <a:t>These two classes will work together to save the data to the csv files where class </a:t>
            </a:r>
            <a:r>
              <a:rPr lang="en-US" b="1" dirty="0"/>
              <a:t>Data </a:t>
            </a:r>
            <a:r>
              <a:rPr lang="en-US" dirty="0"/>
              <a:t>defines the table, columns and inherits methods from class </a:t>
            </a:r>
            <a:r>
              <a:rPr lang="en-US" b="1" dirty="0"/>
              <a:t>Database</a:t>
            </a:r>
            <a:r>
              <a:rPr lang="en-US" dirty="0"/>
              <a:t> to write the data to the </a:t>
            </a:r>
            <a:r>
              <a:rPr lang="en-US" b="1" dirty="0"/>
              <a:t>CSV Database</a:t>
            </a:r>
            <a:r>
              <a:rPr lang="en-US" dirty="0"/>
              <a:t>. </a:t>
            </a:r>
          </a:p>
        </p:txBody>
      </p:sp>
      <p:sp>
        <p:nvSpPr>
          <p:cNvPr id="3" name="TextBox 2">
            <a:extLst>
              <a:ext uri="{FF2B5EF4-FFF2-40B4-BE49-F238E27FC236}">
                <a16:creationId xmlns:a16="http://schemas.microsoft.com/office/drawing/2014/main" id="{F68BB182-F0F2-1493-3199-F6DFEE0A7009}"/>
              </a:ext>
            </a:extLst>
          </p:cNvPr>
          <p:cNvSpPr txBox="1"/>
          <p:nvPr/>
        </p:nvSpPr>
        <p:spPr>
          <a:xfrm>
            <a:off x="838200" y="3838188"/>
            <a:ext cx="9421368" cy="1292662"/>
          </a:xfrm>
          <a:prstGeom prst="rect">
            <a:avLst/>
          </a:prstGeom>
          <a:noFill/>
        </p:spPr>
        <p:txBody>
          <a:bodyPr wrap="square" rtlCol="0">
            <a:spAutoFit/>
          </a:bodyPr>
          <a:lstStyle/>
          <a:p>
            <a:r>
              <a:rPr lang="en-US" sz="2400" b="1" dirty="0"/>
              <a:t>Class Product:</a:t>
            </a:r>
          </a:p>
          <a:p>
            <a:r>
              <a:rPr lang="en-US" dirty="0"/>
              <a:t>This class will inherit class </a:t>
            </a:r>
            <a:r>
              <a:rPr lang="en-US" b="1" dirty="0"/>
              <a:t>Data </a:t>
            </a:r>
            <a:r>
              <a:rPr lang="en-US" dirty="0"/>
              <a:t>where it will define its own columns since each </a:t>
            </a:r>
            <a:r>
              <a:rPr lang="en-US" b="1" dirty="0"/>
              <a:t>Database table </a:t>
            </a:r>
            <a:r>
              <a:rPr lang="en-US" dirty="0"/>
              <a:t>has different columns. It will also contain custom methods to update specific columns such as adding to stock or getting product using unique identifier such as </a:t>
            </a:r>
            <a:r>
              <a:rPr lang="en-US" b="1" dirty="0"/>
              <a:t>product SKU</a:t>
            </a:r>
            <a:r>
              <a:rPr lang="en-US" dirty="0"/>
              <a:t>.</a:t>
            </a:r>
          </a:p>
        </p:txBody>
      </p:sp>
    </p:spTree>
    <p:extLst>
      <p:ext uri="{BB962C8B-B14F-4D97-AF65-F5344CB8AC3E}">
        <p14:creationId xmlns:p14="http://schemas.microsoft.com/office/powerpoint/2010/main" val="2617949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69CB9-BD30-A19B-CD0A-5FCDDFFAA3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B6371A-F570-03F1-86C4-47D526654675}"/>
              </a:ext>
            </a:extLst>
          </p:cNvPr>
          <p:cNvSpPr>
            <a:spLocks noGrp="1"/>
          </p:cNvSpPr>
          <p:nvPr>
            <p:ph type="title"/>
          </p:nvPr>
        </p:nvSpPr>
        <p:spPr/>
        <p:txBody>
          <a:bodyPr/>
          <a:lstStyle/>
          <a:p>
            <a:r>
              <a:rPr lang="en-US" dirty="0"/>
              <a:t>Classes and relationship</a:t>
            </a:r>
          </a:p>
        </p:txBody>
      </p:sp>
      <p:sp>
        <p:nvSpPr>
          <p:cNvPr id="5" name="TextBox 4">
            <a:extLst>
              <a:ext uri="{FF2B5EF4-FFF2-40B4-BE49-F238E27FC236}">
                <a16:creationId xmlns:a16="http://schemas.microsoft.com/office/drawing/2014/main" id="{F12C2FE3-1A5B-4AD0-782F-E5AC296FBD14}"/>
              </a:ext>
            </a:extLst>
          </p:cNvPr>
          <p:cNvSpPr txBox="1"/>
          <p:nvPr/>
        </p:nvSpPr>
        <p:spPr>
          <a:xfrm>
            <a:off x="838200" y="1690688"/>
            <a:ext cx="9421368" cy="1015663"/>
          </a:xfrm>
          <a:prstGeom prst="rect">
            <a:avLst/>
          </a:prstGeom>
          <a:noFill/>
        </p:spPr>
        <p:txBody>
          <a:bodyPr wrap="square" rtlCol="0">
            <a:spAutoFit/>
          </a:bodyPr>
          <a:lstStyle/>
          <a:p>
            <a:r>
              <a:rPr lang="en-US" sz="2400" b="1" dirty="0"/>
              <a:t>Class </a:t>
            </a:r>
            <a:r>
              <a:rPr lang="en-US" sz="2400" b="1" dirty="0" err="1"/>
              <a:t>WelcomeMenu</a:t>
            </a:r>
            <a:r>
              <a:rPr lang="en-US" sz="2400" b="1" dirty="0"/>
              <a:t>, </a:t>
            </a:r>
            <a:r>
              <a:rPr lang="en-US" sz="2400" b="1" dirty="0" err="1"/>
              <a:t>PosMenu</a:t>
            </a:r>
            <a:r>
              <a:rPr lang="en-US" sz="2400" b="1" dirty="0"/>
              <a:t>, </a:t>
            </a:r>
            <a:r>
              <a:rPr lang="en-US" sz="2400" b="1" dirty="0" err="1"/>
              <a:t>InventoryMenu</a:t>
            </a:r>
            <a:r>
              <a:rPr lang="en-US" sz="2400" b="1" dirty="0"/>
              <a:t>:</a:t>
            </a:r>
          </a:p>
          <a:p>
            <a:r>
              <a:rPr lang="en-US" dirty="0"/>
              <a:t>These classes simply inherit the class </a:t>
            </a:r>
            <a:r>
              <a:rPr lang="en-US" b="1" dirty="0"/>
              <a:t>Menu</a:t>
            </a:r>
            <a:r>
              <a:rPr lang="en-US" dirty="0"/>
              <a:t> and define their options and action within the class to be only called in the main function keeping the code clean and readable.</a:t>
            </a:r>
          </a:p>
        </p:txBody>
      </p:sp>
    </p:spTree>
    <p:extLst>
      <p:ext uri="{BB962C8B-B14F-4D97-AF65-F5344CB8AC3E}">
        <p14:creationId xmlns:p14="http://schemas.microsoft.com/office/powerpoint/2010/main" val="5846119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756E2-6CCA-948F-E2E1-ECE80713BF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D67814-4321-13B6-09D5-CDDED6559788}"/>
              </a:ext>
            </a:extLst>
          </p:cNvPr>
          <p:cNvSpPr>
            <a:spLocks noGrp="1"/>
          </p:cNvSpPr>
          <p:nvPr>
            <p:ph type="title"/>
          </p:nvPr>
        </p:nvSpPr>
        <p:spPr/>
        <p:txBody>
          <a:bodyPr/>
          <a:lstStyle/>
          <a:p>
            <a:r>
              <a:rPr lang="en-US" dirty="0"/>
              <a:t>Conclusion</a:t>
            </a:r>
          </a:p>
        </p:txBody>
      </p:sp>
      <p:sp>
        <p:nvSpPr>
          <p:cNvPr id="5" name="TextBox 4">
            <a:extLst>
              <a:ext uri="{FF2B5EF4-FFF2-40B4-BE49-F238E27FC236}">
                <a16:creationId xmlns:a16="http://schemas.microsoft.com/office/drawing/2014/main" id="{90FC5E93-0C48-AE07-4911-4309090C264C}"/>
              </a:ext>
            </a:extLst>
          </p:cNvPr>
          <p:cNvSpPr txBox="1"/>
          <p:nvPr/>
        </p:nvSpPr>
        <p:spPr>
          <a:xfrm>
            <a:off x="838200" y="1690688"/>
            <a:ext cx="9421368" cy="646331"/>
          </a:xfrm>
          <a:prstGeom prst="rect">
            <a:avLst/>
          </a:prstGeom>
          <a:noFill/>
        </p:spPr>
        <p:txBody>
          <a:bodyPr wrap="square" rtlCol="0">
            <a:spAutoFit/>
          </a:bodyPr>
          <a:lstStyle/>
          <a:p>
            <a:r>
              <a:rPr lang="en-US" dirty="0"/>
              <a:t>As we are building this system, we prioritized writing this program in an orthogonal way, so that it’s easy to refactor, read and work with in the future.</a:t>
            </a:r>
          </a:p>
        </p:txBody>
      </p:sp>
    </p:spTree>
    <p:extLst>
      <p:ext uri="{BB962C8B-B14F-4D97-AF65-F5344CB8AC3E}">
        <p14:creationId xmlns:p14="http://schemas.microsoft.com/office/powerpoint/2010/main" val="2168223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TotalTime>
  <Words>479</Words>
  <Application>Microsoft Office PowerPoint</Application>
  <PresentationFormat>Widescreen</PresentationFormat>
  <Paragraphs>41</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OOP Project (POS System)</vt:lpstr>
      <vt:lpstr>Purpose and features</vt:lpstr>
      <vt:lpstr>Classes and relationship</vt:lpstr>
      <vt:lpstr>Classes and relationship</vt:lpstr>
      <vt:lpstr>Classes and relationship</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Omar Al Reesi</dc:creator>
  <cp:lastModifiedBy>Omar Al Reesi</cp:lastModifiedBy>
  <cp:revision>1</cp:revision>
  <dcterms:created xsi:type="dcterms:W3CDTF">2026-04-21T07:54:05Z</dcterms:created>
  <dcterms:modified xsi:type="dcterms:W3CDTF">2026-04-21T08:24:28Z</dcterms:modified>
</cp:coreProperties>
</file>